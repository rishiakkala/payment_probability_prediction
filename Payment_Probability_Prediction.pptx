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8" r:id="rId3"/>
    <p:sldId id="259" r:id="rId4"/>
    <p:sldId id="260" r:id="rId5"/>
    <p:sldId id="261" r:id="rId6"/>
    <p:sldId id="262" r:id="rId7"/>
    <p:sldId id="265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298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8291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1887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Probability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Test — Loan Recovery Analytics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Data Quality Summary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51560"/>
          <a:ext cx="8412480" cy="2688336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Column(s)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emp_type / industry_type / work_exp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~95% missing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Dropped — insufficient signal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total_outstanding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Stored as string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Cast to float64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disbursal_date / writeoff_date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 date formats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Parsed with dayfirst=True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cibil_score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nulls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Imputed with median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final_veri_monthly_income / final_dbr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Imputed with median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Pmt_amount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0.3% null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Treated as 0 (no payment)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4160520"/>
            <a:ext cx="260604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365760" y="417880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97.5%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365760" y="450799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are NCL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(Non-Current Loan)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00400" y="4160520"/>
            <a:ext cx="260604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200400" y="417880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8.8%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3200400" y="450799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payment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(Pmt &gt; 0)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035040" y="4160520"/>
            <a:ext cx="260604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035040" y="417880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~9:1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035040" y="450799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in target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EDA — Account Distribution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4078334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▸  </a:t>
            </a:r>
            <a:r>
              <a:rPr lang="en-US" sz="105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97.5% of accounts are NCL (Non-Current Loans); only 2.5% are GWO (Gross Write-Off)
</a:t>
            </a:r>
            <a:r>
              <a:rPr lang="en-US" sz="105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▸  </a:t>
            </a:r>
            <a:r>
              <a:rPr lang="en-US" sz="105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PL_SAL (salaried) outnumbers PL_SELF (self-employed) nearly 3:1 — indicating salary-based loans dominate
</a:t>
            </a:r>
            <a:r>
              <a:rPr lang="en-US" sz="105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▸  </a:t>
            </a:r>
            <a:r>
              <a:rPr lang="en-US" sz="105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Maharashtra, Tamil Nadu &amp; Uttar Pradesh account for the largest delinquent portfolios geographically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13927"/>
            <a:ext cx="9144000" cy="29648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EDA — Payment Trends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82880" y="4036952"/>
            <a:ext cx="8412480" cy="3173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Payment collections peaked in Feb (₹149M), dipped in April (₹91M), then partially recovered. Payer rate declined from 10.5% → 8.5%, signalling worsening recovery.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72789"/>
            <a:ext cx="9144000" cy="259792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Modelling Approach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640080"/>
          </a:xfrm>
          <a:prstGeom prst="rect">
            <a:avLst/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1556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Variable: 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= 1 if Pmt_amount &gt; 0, else 0  |  Payment rate: 8.8%  |  Class ratio ≈ 9:1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73152" cy="5669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8470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2103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months_since_disbursal, months_since_writeoff, dpd_bucket_enc, prod_enc, state_enc. Dropped 95%-null columns.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578608"/>
            <a:ext cx="73152" cy="5669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596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6928" y="28529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stratified split to preserve 8.8% payment rate in both sets. Train: 278,520 | Test: 69,631 rows.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328416"/>
            <a:ext cx="73152" cy="5669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33467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66928" y="36027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class_weight='balanced' applied to all models — prevents bias toward majority 'No Payment' class.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4078224"/>
            <a:ext cx="73152" cy="5669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409651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Compared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6928" y="43525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(interpretable baseline), Decision Tree (depth=6), Random Forest (100 trees, depth=8).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Model Results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560320" cy="1371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515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0.8050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987552"/>
            <a:ext cx="2560320" cy="2286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256032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0515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0.8329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200400" y="1691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1005840"/>
            <a:ext cx="2560320" cy="13716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35040" y="10515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0.8485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035040" y="1691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35040" y="987552"/>
            <a:ext cx="2560320" cy="2286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Best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23774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Score</a:t>
            </a:r>
            <a:endParaRPr lang="en-US" sz="110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651760"/>
            <a:ext cx="859536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8661"/>
            <a:ext cx="91440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Conclusions &amp; Next Steps</a:t>
            </a:r>
            <a:endParaRPr lang="en-US" sz="2600" dirty="0"/>
          </a:p>
        </p:txBody>
      </p:sp>
      <p:sp>
        <p:nvSpPr>
          <p:cNvPr id="5" name="Rectangle 4"/>
          <p:cNvSpPr/>
          <p:nvPr/>
        </p:nvSpPr>
        <p:spPr>
          <a:xfrm>
            <a:off x="365760" y="1110156"/>
            <a:ext cx="6849913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Key </a:t>
            </a:r>
            <a:r>
              <a:rPr lang="en-US" sz="1400" b="1" dirty="0" smtClean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Conclusions :</a:t>
            </a:r>
          </a:p>
          <a:p>
            <a:r>
              <a:rPr lang="en-US" sz="12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1.  </a:t>
            </a:r>
            <a:r>
              <a:rPr lang="en-US" sz="12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emp_type</a:t>
            </a: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/</a:t>
            </a:r>
            <a:r>
              <a:rPr lang="en-US" sz="12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industry_type</a:t>
            </a: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(&gt;95% null) dropped; </a:t>
            </a:r>
            <a:r>
              <a:rPr lang="en-US" sz="12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total_outstanding</a:t>
            </a: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fixed to float
</a:t>
            </a:r>
            <a:r>
              <a:rPr lang="en-US" sz="12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2.  </a:t>
            </a: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NCL accounts dominate 97.5%; PL_SAL (~73%) is the primary product
</a:t>
            </a:r>
            <a:r>
              <a:rPr lang="en-US" sz="12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3.  </a:t>
            </a: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Collections fell 39% </a:t>
            </a:r>
            <a:r>
              <a:rPr lang="en-US" sz="12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Feb→Apr</a:t>
            </a: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(₹149M→₹91M), recovering to ₹127M
</a:t>
            </a:r>
            <a:r>
              <a:rPr lang="en-US" sz="12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4.  </a:t>
            </a: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Payer rate declined 10.5%→8.5%, worsening over 6 months
</a:t>
            </a:r>
            <a:r>
              <a:rPr lang="en-US" sz="12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5.  </a:t>
            </a: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Random Forest best model: ROC-AUC = 0.8485
</a:t>
            </a:r>
            <a:r>
              <a:rPr lang="en-US" sz="12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6.  </a:t>
            </a:r>
            <a:r>
              <a:rPr lang="en-US" sz="12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dpd_days</a:t>
            </a: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, </a:t>
            </a:r>
            <a:r>
              <a:rPr lang="en-US" sz="12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principal_outstanding</a:t>
            </a: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, </a:t>
            </a:r>
            <a:r>
              <a:rPr lang="en-US" sz="12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gwo_amt</a:t>
            </a: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= top predictors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5760" y="2741372"/>
            <a:ext cx="5395451" cy="15081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Next </a:t>
            </a:r>
            <a:r>
              <a:rPr lang="en-US" sz="1600" b="1" dirty="0" smtClean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Steps :</a:t>
            </a:r>
          </a:p>
          <a:p>
            <a:r>
              <a:rPr lang="en-US" sz="12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→  </a:t>
            </a: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Add rolling 3-month payment history as features for temporal signal
</a:t>
            </a:r>
            <a:r>
              <a:rPr lang="en-US" sz="12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→  </a:t>
            </a: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Experiment with </a:t>
            </a:r>
            <a:r>
              <a:rPr lang="en-US" sz="12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XGBoost</a:t>
            </a: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/ </a:t>
            </a:r>
            <a:r>
              <a:rPr lang="en-US" sz="12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LightGBM</a:t>
            </a: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for further AUC improvement
</a:t>
            </a:r>
            <a:r>
              <a:rPr lang="en-US" sz="12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→  </a:t>
            </a: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Tune classification threshold to </a:t>
            </a:r>
            <a:r>
              <a:rPr lang="en-US" sz="12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optimise</a:t>
            </a: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precision vs recall for the business case
</a:t>
            </a:r>
            <a:r>
              <a:rPr lang="en-US" sz="12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→  </a:t>
            </a: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Enrich with full CIBIL bureau history to reduce data sparsity
</a:t>
            </a:r>
            <a:r>
              <a:rPr lang="en-US" sz="12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→  </a:t>
            </a: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Build a monthly retraining pipeline as new recovery data is collected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38219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355</Words>
  <Application>Microsoft Office PowerPoint</Application>
  <PresentationFormat>On-screen Show (16:9)</PresentationFormat>
  <Paragraphs>79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Payment Probability Prediction</dc:title>
  <dc:subject>PptxGenJS Presentation</dc:subject>
  <dc:creator>Data Science Assignment</dc:creator>
  <cp:lastModifiedBy>AKKALA RISHI [AV.EN.U4AIE22102]</cp:lastModifiedBy>
  <cp:revision>3</cp:revision>
  <dcterms:created xsi:type="dcterms:W3CDTF">2026-04-30T09:06:03Z</dcterms:created>
  <dcterms:modified xsi:type="dcterms:W3CDTF">2026-04-30T09:27:01Z</dcterms:modified>
</cp:coreProperties>
</file>